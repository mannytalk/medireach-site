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15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616A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00616A"/>
                </a:solidFill>
                <a:latin typeface="Arial"/>
              </a:rPr>
              <a:t>Annual Recurring Revenue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F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</c:v>
                </c:pt>
                <c:pt idx="1">
                  <c:v>2.1</c:v>
                </c:pt>
                <c:pt idx="2">
                  <c:v>8.5</c:v>
                </c:pt>
                <c:pt idx="3">
                  <c:v>24</c:v>
                </c:pt>
                <c:pt idx="4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D3-4D1C-B226-9D6E7C1942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44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Empyrean MediReach and the company mission. Pause to let the tagline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 massive and growing. 4.5 billion people lack adequate healthcare. Emphasize the preventable deaths statistic — these are lives that technology can save.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feature. Emphasize the offline-first approach — this is the key differentiator that makes us viable where others aren't.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4-step flow is simple to explain to both investors and end users. Stress that steps 1-3 work with zero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SAM and SOM numbers — investors want to see a realistic capture plan. We start with community health workers as the entry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matters for any NVIDIA application. Jetson, NIM and BioNeMo are the three pillars. Emphasise BioNeMo for the multilingual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competitive matrix shows our clear whitespace. No other solution combines offline AI triage, multilingual NLP, and full care routing at low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B2G is the fastest entry point — one ministry contract can cover millions of users. B2B NGO is our near-term revenue generator.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momentum. The MOUs and survey data are critical — they prove real demand. The roadmap shows a credible path to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Conservative base-case projections. The key driver is the first ministry contract. Even 1 country can unlock millions in ARR.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team has built and operated healthcare systems in the Global South. This isn't theoretical — we've lived this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slide. End with the mission statement, not the numbers. Make it emotional. These are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EMPYREAN MEDIREACH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 for the Underserved World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69748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880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Unreached. Treat the Untreated.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16A"/>
          </a:solidFill>
          <a:ln w="12700">
            <a:solidFill>
              <a:srgbClr val="0061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00616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71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4.5B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lack adequate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87168" y="114300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E6F4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3716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78608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1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1B+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2578608" y="2926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areas with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specialist coverage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08576" y="114300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00616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656" y="137160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0016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8M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4700016" y="2926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deaths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year in LMICs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9984" y="1143000"/>
            <a:ext cx="1920240" cy="3200400"/>
          </a:xfrm>
          <a:prstGeom prst="roundRect">
            <a:avLst>
              <a:gd name="adj" fmla="val 5714"/>
            </a:avLst>
          </a:prstGeom>
          <a:solidFill>
            <a:srgbClr val="E6F4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137160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21424" y="21488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61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6821424" y="29260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treatment due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triage guidance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and underserved communities in the Global South face a critical gap — no diagnosis, no triage, no pathway to care.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Empyrean MediReach is an AI-powered triage and diagnostic platform built for first responders, rural clinics, and mobile ambulances — works offline, speaks local languages.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02809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574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Assessment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NLP engine diagnoses symptoms and recommends first aid protocols — no internet required.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17373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02809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0574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79476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locates nearest doctor, clinic, hospital or specialist with turn-by-turn navigation.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89320" y="17373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02809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0574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940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Mobile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629400" y="2194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low-cost Android devices with 2G fallback. NVIDIA Jetson edge AI for advanced clinics.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20040" y="32461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02809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661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Integration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60120" y="3703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coordination between mobile units and A&amp;E departments to prepare for incoming patients.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154680" y="32461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02809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5661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9476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Guidance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794760" y="3703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lab test recommendations tailored to available resources at point of care.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989320" y="32461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27000" dist="25400" dir="2700000" algn="bl" rotWithShape="0">
              <a:srgbClr val="028090">
                <a:alpha val="10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56616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2940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Escalation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629400" y="37033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referral pathway with contact details and full patient summary for receiving physician.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2"/>
          </a:solidFill>
          <a:ln w="12700">
            <a:solidFill>
              <a:srgbClr val="0D1F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00584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74520" y="1344168"/>
            <a:ext cx="621792" cy="73152"/>
          </a:xfrm>
          <a:prstGeom prst="rect">
            <a:avLst/>
          </a:prstGeom>
          <a:solidFill>
            <a:srgbClr val="D1E8EA"/>
          </a:solidFill>
          <a:ln w="12700">
            <a:solidFill>
              <a:srgbClr val="D1E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Presents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entered by community health worker or patient via voice, text, or image.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1005840"/>
            <a:ext cx="777240" cy="777240"/>
          </a:xfrm>
          <a:prstGeom prst="ellipse">
            <a:avLst/>
          </a:prstGeom>
          <a:solidFill>
            <a:srgbClr val="00616A"/>
          </a:solidFill>
          <a:ln w="12700">
            <a:solidFill>
              <a:srgbClr val="0061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977640" y="1344168"/>
            <a:ext cx="621792" cy="73152"/>
          </a:xfrm>
          <a:prstGeom prst="rect">
            <a:avLst/>
          </a:prstGeom>
          <a:solidFill>
            <a:srgbClr val="D1E8EA"/>
          </a:solidFill>
          <a:ln w="12700">
            <a:solidFill>
              <a:srgbClr val="D1E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9659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560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NVIDIA Jetson AI model analyses symptoms against clinical knowledge base.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1005840"/>
            <a:ext cx="777240" cy="7772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080760" y="1344168"/>
            <a:ext cx="621792" cy="73152"/>
          </a:xfrm>
          <a:prstGeom prst="rect">
            <a:avLst/>
          </a:prstGeom>
          <a:solidFill>
            <a:srgbClr val="D1E8EA"/>
          </a:solidFill>
          <a:ln w="12700">
            <a:solidFill>
              <a:srgbClr val="D1E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9659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Protocol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probable diagnosis, severity score, and immediate first-aid instructions.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100584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005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766560" y="1965960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560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nearest facility, dispatches ambulance, or escalates to remote specialist.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can run fully offline. Cloud sync when connectivity available.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MARKET — THE GLOBAL SOUTH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9844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70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1.4B people, 2.3 doctors per 10,000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194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9572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267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&amp; Southeast Asia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887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2.1B people, rural healthcare gap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329184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9300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364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8872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650M people, fragmented rural care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937760" y="109728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00616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074920" y="120700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12648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$85B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health, LMICs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937760" y="219456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074920" y="230428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126480" y="2286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$18B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612648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&amp; primary care AI tools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937760" y="32918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5074920" y="340156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612648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61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$2.4B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612648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addressable target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65760" y="42976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0616A"/>
          </a:solidFill>
          <a:ln/>
        </p:spPr>
      </p:sp>
      <p:sp>
        <p:nvSpPr>
          <p:cNvPr id="29" name="Text 24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USERS:  Community Health Workers  •  Mobile Ambulance Teams  •  Rural Clinic Staff  •  A&amp;E Departments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2"/>
          </a:solidFill>
          <a:ln w="12700">
            <a:solidFill>
              <a:srgbClr val="0D1F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NVIDIA PARTNERSHIP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Edge AI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645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at rural clinics and ambulances. Ultra-low power, no cloud dependency. Runs diagnostic models locally.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Microservices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669280" y="1645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cloud inference at regional health hubs for complex multi-modal diagnostics and population-level analytics.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9260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290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BioNeMo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3520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NLP model training on low-resource, multilingual datasets covering 40+ African and Asian languages.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9260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4290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669280" y="3520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on-device + delta sync. Works on 2G/SMS. Full functionality with zero internet access.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applying for NVIDIA Inception Programme and NVIDIA for Healthcare partnerships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DIFFERENTIATORS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869680" cy="347472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Empyrean MediReach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Telemedicine Apps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Hospital EMRs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NGO Programs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1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Offline Operation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616A"/>
                          </a:solidFill>
                        </a:rPr>
                        <a:t>✓ Full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4444"/>
                          </a:solidFill>
                        </a:rPr>
                        <a:t>✗ None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4444"/>
                          </a:solidFill>
                        </a:rPr>
                        <a:t>✗ None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AI Triage Engine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616A"/>
                          </a:solidFill>
                        </a:rPr>
                        <a:t>✓ Advanced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Basic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4444"/>
                          </a:solidFill>
                        </a:rPr>
                        <a:t>✗ None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4444"/>
                          </a:solidFill>
                        </a:rPr>
                        <a:t>✗ None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Route to Care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616A"/>
                          </a:solidFill>
                        </a:rPr>
                        <a:t>✓ Auto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Manual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4444"/>
                          </a:solidFill>
                        </a:rPr>
                        <a:t>✗ None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Manual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Multilingual NLP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616A"/>
                          </a:solidFill>
                        </a:rPr>
                        <a:t>40+ langs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5-10 langs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4444"/>
                          </a:solidFill>
                        </a:rPr>
                        <a:t>✗ None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Varies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Low-cost Devices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616A"/>
                          </a:solidFill>
                        </a:rPr>
                        <a:t>✓ $50+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Smartphone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Desktop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Paper-based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Ambulance Coord.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616A"/>
                          </a:solidFill>
                        </a:rPr>
                        <a:t>✓ Real-time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4444"/>
                          </a:solidFill>
                        </a:rPr>
                        <a:t>✗ None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Limited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4444"/>
                          </a:solidFill>
                        </a:rPr>
                        <a:t>✗ None</a:t>
                      </a:r>
                      <a:endParaRPr lang="en-US" sz="1100" dirty="0"/>
                    </a:p>
                  </a:txBody>
                  <a:tcPr marL="101600" marR="50800" marT="50800" marB="50800">
                    <a:lnL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offline-first, multilingual, end-to-end care pathway has no direct competitor in the Global South.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2"/>
          </a:solidFill>
          <a:ln w="12700">
            <a:solidFill>
              <a:srgbClr val="0D1F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887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Licensing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24231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ministry contracts for national community health worker networks. Per-seat SaaS pricing.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00616A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749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$3–8 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user/month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100584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E6F4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188720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6032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Hospital &amp; NGO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60320" y="24231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to rural hospital chains, NGOs, and humanitarian organisations deploying at scale.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606040" y="374904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00616A"/>
          </a:solidFill>
          <a:ln/>
        </p:spPr>
      </p:sp>
      <p:sp>
        <p:nvSpPr>
          <p:cNvPr id="15" name="Text 11"/>
          <p:cNvSpPr/>
          <p:nvPr/>
        </p:nvSpPr>
        <p:spPr>
          <a:xfrm>
            <a:off x="2606040" y="3749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$500–2,000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site/month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17720" y="100584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188720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916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Consumer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709160" y="24231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basic triage app for citizens. Premium AI-assisted diagnostics, telemedicine connections and follow-ups.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74904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00616A"/>
          </a:solidFill>
          <a:ln/>
        </p:spPr>
      </p:sp>
      <p:sp>
        <p:nvSpPr>
          <p:cNvPr id="21" name="Text 16"/>
          <p:cNvSpPr/>
          <p:nvPr/>
        </p:nvSpPr>
        <p:spPr>
          <a:xfrm>
            <a:off x="4754880" y="3749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$2–5 per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user/month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66560" y="100584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E6F4F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188720"/>
            <a:ext cx="685800" cy="6858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58000" y="1965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Insights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0" y="242316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population health analytics sold to pharma, NGOs, and WHO for outbreak monitoring.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903720" y="374904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00616A"/>
          </a:solidFill>
          <a:ln/>
        </p:spPr>
      </p:sp>
      <p:sp>
        <p:nvSpPr>
          <p:cNvPr id="27" name="Text 21"/>
          <p:cNvSpPr/>
          <p:nvPr/>
        </p:nvSpPr>
        <p:spPr>
          <a:xfrm>
            <a:off x="6903720" y="37490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deals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 &amp;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TRACTION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819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built — AI triage engine prototype in progress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3055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11226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sign MOU with 2 NGOs in India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60904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64261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health workers surveyed — 91% intent to use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91256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3172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Inception application in progress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960120" y="3703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4160520" y="100584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251960" y="116128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800600" y="10607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2026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6217920" y="10607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800600" y="13898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CHWs in Kenya and Bangladesh. Refine AI model with real data.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160520" y="192024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251960" y="2075688"/>
            <a:ext cx="457200" cy="457200"/>
          </a:xfrm>
          <a:prstGeom prst="ellipse">
            <a:avLst/>
          </a:prstGeom>
          <a:solidFill>
            <a:srgbClr val="00616A"/>
          </a:solidFill>
          <a:ln w="12700">
            <a:solidFill>
              <a:srgbClr val="00616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800600" y="1975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2026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217920" y="19751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&amp; Expansion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800600" y="23042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$1M. Launch India, Indonesia markets.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160520" y="283464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0D1F2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251960" y="299008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800600" y="28895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217920" y="2889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250k Users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800600" y="32186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partnerships in 5 countries. Ambulance network integration.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160520" y="374904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251960" y="3904488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800600" y="38039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217920" y="38039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800600" y="41330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devices, wearables integration, WHO data partnerships.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2"/>
          </a:solidFill>
          <a:ln w="12700">
            <a:solidFill>
              <a:srgbClr val="0D1F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PROJECTIONS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00616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078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06440" y="13990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589520" y="14447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now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96596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2039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Target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06440" y="2359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1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589520" y="24048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292608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00616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0644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06440" y="3319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28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589520" y="33649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388620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0F9F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06440" y="3959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ARR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06440" y="4279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1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$58M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589520" y="43251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assume 2 ministry contracts by 2026 and organic CHW network growth.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143000"/>
            <a:ext cx="914400" cy="914400"/>
          </a:xfrm>
          <a:prstGeom prst="ellipse">
            <a:avLst/>
          </a:prstGeom>
          <a:solidFill>
            <a:srgbClr val="00616A"/>
          </a:solidFill>
          <a:ln w="12700">
            <a:solidFill>
              <a:srgbClr val="0061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</a:rPr>
              <a:t>MA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Manny Anguluri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9718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Architect, 18 yrs in various sectors. Founder and passionate charity volunteer.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90088" y="114300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0088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 Anguluri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Co-Founder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0" y="29718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professional, qualified pediatric nurse and first aid practitioner.  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05910" y="1051560"/>
            <a:ext cx="1965960" cy="3520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38928" y="1143000"/>
            <a:ext cx="914400" cy="914400"/>
          </a:xfrm>
          <a:prstGeom prst="ellipse">
            <a:avLst/>
          </a:prstGeom>
          <a:solidFill>
            <a:srgbClr val="00616A"/>
          </a:solidFill>
          <a:ln w="12700">
            <a:solidFill>
              <a:srgbClr val="0061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</a:rPr>
              <a:t>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0916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/>
              <a:t>Researchers and Industry experts</a:t>
            </a:r>
          </a:p>
        </p:txBody>
      </p:sp>
      <p:sp>
        <p:nvSpPr>
          <p:cNvPr id="20" name="Text 18"/>
          <p:cNvSpPr/>
          <p:nvPr/>
        </p:nvSpPr>
        <p:spPr>
          <a:xfrm>
            <a:off x="470916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29718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logistics directors and Sales managers. Proven Scaled operations in multiple countries.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87768" y="114300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87768" y="1143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5800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at Yashoda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2606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Medical Officers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29718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 researchers, Osmania Medical School. Expert in point-of-care diagnostics.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743200"/>
            <a:ext cx="2743200" cy="27432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EMPYREAN MEDIREACH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building the healthcare infrastructure the Global South deserves.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028090">
              <a:alpha val="8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633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$1.5M Seed Round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8580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Pre-product, post-LOI. 18 months runway to first paying ministry contract.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manny@empyreanmedireach.com</a:t>
            </a:r>
            <a:r>
              <a:rPr lang="en-US" sz="1300" dirty="0">
                <a:solidFill>
                  <a:srgbClr val="C0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www.empyreans.co.uk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0" y="2606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the Unreached.  Treat the Untreated.</a:t>
            </a:r>
            <a:endParaRPr lang="en-US" sz="16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56616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1227</Words>
  <Application>Microsoft Office PowerPoint</Application>
  <PresentationFormat>On-screen Show (16:9)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Empyrean MediReach - Investor Pitch Deck</dc:title>
  <dc:subject>PptxGenJS Presentation</dc:subject>
  <dc:creator>PptxGenJS</dc:creator>
  <cp:lastModifiedBy>Manny Anguluri</cp:lastModifiedBy>
  <cp:revision>2</cp:revision>
  <dcterms:created xsi:type="dcterms:W3CDTF">2026-06-09T09:00:15Z</dcterms:created>
  <dcterms:modified xsi:type="dcterms:W3CDTF">2026-06-09T09:37:23Z</dcterms:modified>
</cp:coreProperties>
</file>